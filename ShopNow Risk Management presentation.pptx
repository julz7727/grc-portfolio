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76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F3864"/>
                </a:solidFill>
                <a:latin typeface="Calibri"/>
              </a:rPr>
              <a:t>Risks by ISO 27001:2022 Annex A domain (multi-mapped)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F386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A.8 Tech.</c:v>
                </c:pt>
                <c:pt idx="1">
                  <c:v>A.12 Ops</c:v>
                </c:pt>
                <c:pt idx="2">
                  <c:v>A.17 BC</c:v>
                </c:pt>
                <c:pt idx="3">
                  <c:v>A.6 People</c:v>
                </c:pt>
                <c:pt idx="4">
                  <c:v>A.5 Org.</c:v>
                </c:pt>
                <c:pt idx="5">
                  <c:v>A.10 Crypto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F3-47DA-8F82-8EAFD3001C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999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6152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926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Cybersecurity Risk Assessment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D9E1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ShopNow E-Commerce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&amp; Treatment Plan for Management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212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5166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ISO/IEC 27001:2022  ·  5x5 Heat-Map Matrix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Chuks|  19 May 2026  |  Version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assessment matters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phishing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member nearly disclosed credentials in response to a fraudulent email.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5544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4389120" y="155448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830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attempts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2331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automated attacks have probed the public website.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5544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1"/>
          <p:cNvSpPr/>
          <p:nvPr/>
        </p:nvSpPr>
        <p:spPr>
          <a:xfrm>
            <a:off x="8229600" y="155448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830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 culture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2331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and short passwords remain common across staff accounts.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11064240" cy="2286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5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4526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identified eight cybersecurity risks facing ShopNow, scored each using an ISO/IEC 27001:2022 aligned 5x5 matrix, and drafted treatment plans the business can execute over the next six months.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22960" y="5440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800" dirty="0"/>
          </a:p>
        </p:txBody>
      </p:sp>
      <p:sp>
        <p:nvSpPr>
          <p:cNvPr id="23" name="Text 18"/>
          <p:cNvSpPr/>
          <p:nvPr/>
        </p:nvSpPr>
        <p:spPr>
          <a:xfrm>
            <a:off x="2103120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identified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480560" y="5440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800" dirty="0"/>
          </a:p>
        </p:txBody>
      </p:sp>
      <p:sp>
        <p:nvSpPr>
          <p:cNvPr id="25" name="Text 20"/>
          <p:cNvSpPr/>
          <p:nvPr/>
        </p:nvSpPr>
        <p:spPr>
          <a:xfrm>
            <a:off x="5760720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High or Very High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138160" y="5440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800" dirty="0"/>
          </a:p>
        </p:txBody>
      </p:sp>
      <p:sp>
        <p:nvSpPr>
          <p:cNvPr id="27" name="Text 22"/>
          <p:cNvSpPr/>
          <p:nvPr/>
        </p:nvSpPr>
        <p:spPr>
          <a:xfrm>
            <a:off x="9418320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remediate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ISO/IEC 27001:2022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scored each risk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is scored on Likelihood (1-5) and Impact (1-5). The matrix maps the combination to a rating: Low, Medium, High, or Very High.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94560" y="237744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2194560" y="23774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0" y="237744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2971800" y="23774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237744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749040" y="23774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2377440"/>
            <a:ext cx="777240" cy="640080"/>
          </a:xfrm>
          <a:prstGeom prst="rect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526280" y="23774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2377440"/>
            <a:ext cx="777240" cy="640080"/>
          </a:xfrm>
          <a:prstGeom prst="rect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303520" y="23774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94560" y="301752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2194560" y="30175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71800" y="302803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2971800" y="30175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49040" y="301752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3749040" y="30175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3017520"/>
            <a:ext cx="777240" cy="640080"/>
          </a:xfrm>
          <a:prstGeom prst="rect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4526280" y="30175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3017520"/>
            <a:ext cx="777240" cy="640080"/>
          </a:xfrm>
          <a:prstGeom prst="rect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303520" y="30175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94560" y="3657600"/>
            <a:ext cx="777240" cy="640080"/>
          </a:xfrm>
          <a:prstGeom prst="rect">
            <a:avLst/>
          </a:prstGeom>
          <a:solidFill>
            <a:srgbClr val="70AD4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2194560" y="36576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71800" y="365760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2971800" y="36576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49040" y="365760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3749040" y="36576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26280" y="365760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4526280" y="36576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03520" y="365760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5303520" y="36576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194560" y="4297680"/>
            <a:ext cx="777240" cy="640080"/>
          </a:xfrm>
          <a:prstGeom prst="rect">
            <a:avLst/>
          </a:prstGeom>
          <a:solidFill>
            <a:srgbClr val="70AD4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2194560" y="42976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971800" y="4297680"/>
            <a:ext cx="777240" cy="640080"/>
          </a:xfrm>
          <a:prstGeom prst="rect">
            <a:avLst/>
          </a:prstGeom>
          <a:solidFill>
            <a:srgbClr val="70AD4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2971800" y="42976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49040" y="429768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3749040" y="42976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26280" y="429768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4526280" y="42976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303520" y="429768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5303520" y="42976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194560" y="4937760"/>
            <a:ext cx="777240" cy="640080"/>
          </a:xfrm>
          <a:prstGeom prst="rect">
            <a:avLst/>
          </a:prstGeom>
          <a:solidFill>
            <a:srgbClr val="70AD4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2194560" y="49377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971800" y="4937760"/>
            <a:ext cx="777240" cy="640080"/>
          </a:xfrm>
          <a:prstGeom prst="rect">
            <a:avLst/>
          </a:prstGeom>
          <a:solidFill>
            <a:srgbClr val="70AD4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2971800" y="49377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749040" y="4937760"/>
            <a:ext cx="777240" cy="640080"/>
          </a:xfrm>
          <a:prstGeom prst="rect">
            <a:avLst/>
          </a:prstGeom>
          <a:solidFill>
            <a:srgbClr val="70AD4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3749040" y="49377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526280" y="4937760"/>
            <a:ext cx="777240" cy="640080"/>
          </a:xfrm>
          <a:prstGeom prst="rect">
            <a:avLst/>
          </a:prstGeom>
          <a:solidFill>
            <a:srgbClr val="70AD4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4526280" y="49377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303520" y="4937760"/>
            <a:ext cx="777240" cy="640080"/>
          </a:xfrm>
          <a:prstGeom prst="rect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5303520" y="49377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1440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Catastrophic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14400" y="3108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Major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14400" y="3749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Severe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14400" y="4389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Serious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14400" y="5029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Minor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148840" y="1965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Rare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926080" y="1965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Unlikely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703320" y="1965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Possible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480560" y="1965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Likely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257800" y="1965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Almost Cert.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 rot="16200000">
            <a:off x="777240" y="3703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194560" y="1600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62940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bands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629400" y="2377440"/>
            <a:ext cx="320040" cy="3200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9" name="Text 67"/>
          <p:cNvSpPr/>
          <p:nvPr/>
        </p:nvSpPr>
        <p:spPr>
          <a:xfrm>
            <a:off x="708660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Score 20-25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08660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action. Board/executive escalation.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629400" y="3154680"/>
            <a:ext cx="320040" cy="3200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2" name="Text 70"/>
          <p:cNvSpPr/>
          <p:nvPr/>
        </p:nvSpPr>
        <p:spPr>
          <a:xfrm>
            <a:off x="708660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Score 10-16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086600" y="3429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Urgent. Treatment plan commenced within 30 days.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629400" y="3931920"/>
            <a:ext cx="320040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5" name="Text 73"/>
          <p:cNvSpPr/>
          <p:nvPr/>
        </p:nvSpPr>
        <p:spPr>
          <a:xfrm>
            <a:off x="7086600" y="3886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Score 5-9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708660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within 90 days. Departmental manager.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629400" y="4709160"/>
            <a:ext cx="320040" cy="3200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8" name="Text 76"/>
          <p:cNvSpPr/>
          <p:nvPr/>
        </p:nvSpPr>
        <p:spPr>
          <a:xfrm>
            <a:off x="708660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Score 1-4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7086600" y="4983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Monitor. Review at next scheduled cycle.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landscape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0" cy="4937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 risk distribution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286000"/>
            <a:ext cx="109728" cy="822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1051560" y="2286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2103120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8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10312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3246120"/>
            <a:ext cx="109728" cy="8229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105156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2103120" y="3319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8C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10312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4206240"/>
            <a:ext cx="109728" cy="82296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1051560" y="4206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2103120" y="4279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E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103120" y="4617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90 days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5166360"/>
            <a:ext cx="109728" cy="8229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7"/>
          <p:cNvSpPr/>
          <p:nvPr/>
        </p:nvSpPr>
        <p:spPr>
          <a:xfrm>
            <a:off x="1051560" y="5166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21" name="Text 18"/>
          <p:cNvSpPr/>
          <p:nvPr/>
        </p:nvSpPr>
        <p:spPr>
          <a:xfrm>
            <a:off x="2103120" y="5239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6E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103120" y="5577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only</a:t>
            </a:r>
            <a:endParaRPr lang="en-US" sz="11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5486400" y="1371600"/>
          <a:ext cx="612648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· ISO/IEC 27001:2022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eight risks we identified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97480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31520" y="1453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68880" y="1453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R-001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196596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attacks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A.6 / A.12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83280" y="14173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9"/>
          <p:cNvSpPr/>
          <p:nvPr/>
        </p:nvSpPr>
        <p:spPr>
          <a:xfrm>
            <a:off x="3383280" y="1417320"/>
            <a:ext cx="2697480" cy="3200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3566160" y="1453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0" y="1453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R-002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196596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attacks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6616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5"/>
          <p:cNvSpPr/>
          <p:nvPr/>
        </p:nvSpPr>
        <p:spPr>
          <a:xfrm>
            <a:off x="6217920" y="1417320"/>
            <a:ext cx="2697480" cy="3200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6"/>
          <p:cNvSpPr/>
          <p:nvPr/>
        </p:nvSpPr>
        <p:spPr>
          <a:xfrm>
            <a:off x="6400800" y="1453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138160" y="1453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R-003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1965960"/>
            <a:ext cx="731520" cy="7315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0800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 practices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 / A.8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052560" y="14173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1"/>
          <p:cNvSpPr/>
          <p:nvPr/>
        </p:nvSpPr>
        <p:spPr>
          <a:xfrm>
            <a:off x="9052560" y="1417320"/>
            <a:ext cx="2697480" cy="3200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2"/>
          <p:cNvSpPr/>
          <p:nvPr/>
        </p:nvSpPr>
        <p:spPr>
          <a:xfrm>
            <a:off x="9235440" y="1453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0972800" y="1453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R-004</a:t>
            </a:r>
            <a:endParaRPr lang="en-US" sz="10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5540" y="1965960"/>
            <a:ext cx="731520" cy="7315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35440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infection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23544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 / A.17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548640" y="38404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3" name="Shape 27"/>
          <p:cNvSpPr/>
          <p:nvPr/>
        </p:nvSpPr>
        <p:spPr>
          <a:xfrm>
            <a:off x="548640" y="3840480"/>
            <a:ext cx="2697480" cy="3200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28"/>
          <p:cNvSpPr/>
          <p:nvPr/>
        </p:nvSpPr>
        <p:spPr>
          <a:xfrm>
            <a:off x="731520" y="3877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2468880" y="38770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R-005</a:t>
            </a:r>
            <a:endParaRPr lang="en-US" sz="10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1620" y="4389120"/>
            <a:ext cx="731520" cy="7315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31520" y="5212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breach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31520" y="5715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 / A.10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3383280" y="38404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0" name="Shape 33"/>
          <p:cNvSpPr/>
          <p:nvPr/>
        </p:nvSpPr>
        <p:spPr>
          <a:xfrm>
            <a:off x="3383280" y="3840480"/>
            <a:ext cx="2697480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4"/>
          <p:cNvSpPr/>
          <p:nvPr/>
        </p:nvSpPr>
        <p:spPr>
          <a:xfrm>
            <a:off x="3566160" y="3877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5303520" y="38770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R-006</a:t>
            </a:r>
            <a:endParaRPr lang="en-US" sz="10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6260" y="4389120"/>
            <a:ext cx="731520" cy="7315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566160" y="5212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attack causing downtime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3566160" y="5715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217920" y="38404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7" name="Shape 39"/>
          <p:cNvSpPr/>
          <p:nvPr/>
        </p:nvSpPr>
        <p:spPr>
          <a:xfrm>
            <a:off x="6217920" y="3840480"/>
            <a:ext cx="2697480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0"/>
          <p:cNvSpPr/>
          <p:nvPr/>
        </p:nvSpPr>
        <p:spPr>
          <a:xfrm>
            <a:off x="6400800" y="3877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8138160" y="38770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R-007</a:t>
            </a:r>
            <a:endParaRPr lang="en-US" sz="100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4389120"/>
            <a:ext cx="731520" cy="73152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00800" y="5212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software</a:t>
            </a:r>
            <a:endParaRPr lang="en-US" sz="1300" dirty="0"/>
          </a:p>
        </p:txBody>
      </p:sp>
      <p:sp>
        <p:nvSpPr>
          <p:cNvPr id="52" name="Text 43"/>
          <p:cNvSpPr/>
          <p:nvPr/>
        </p:nvSpPr>
        <p:spPr>
          <a:xfrm>
            <a:off x="6400800" y="5715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 / A.12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9052560" y="38404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4" name="Shape 45"/>
          <p:cNvSpPr/>
          <p:nvPr/>
        </p:nvSpPr>
        <p:spPr>
          <a:xfrm>
            <a:off x="9052560" y="3840480"/>
            <a:ext cx="2697480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5" name="Text 46"/>
          <p:cNvSpPr/>
          <p:nvPr/>
        </p:nvSpPr>
        <p:spPr>
          <a:xfrm>
            <a:off x="9235440" y="3877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56" name="Text 47"/>
          <p:cNvSpPr/>
          <p:nvPr/>
        </p:nvSpPr>
        <p:spPr>
          <a:xfrm>
            <a:off x="10972800" y="38770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R-008</a:t>
            </a:r>
            <a:endParaRPr lang="en-US" sz="1000" dirty="0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5540" y="4389120"/>
            <a:ext cx="731520" cy="731520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9235440" y="5212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data backups</a:t>
            </a:r>
            <a:endParaRPr lang="en-US" sz="1300" dirty="0"/>
          </a:p>
        </p:txBody>
      </p:sp>
      <p:sp>
        <p:nvSpPr>
          <p:cNvPr id="59" name="Text 49"/>
          <p:cNvSpPr/>
          <p:nvPr/>
        </p:nvSpPr>
        <p:spPr>
          <a:xfrm>
            <a:off x="9235440" y="5715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A.17 / A.8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FRAMEWORK · ISO 27005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treat each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9748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40180" y="2377440"/>
            <a:ext cx="914400" cy="914400"/>
          </a:xfrm>
          <a:prstGeom prst="ellipse">
            <a:avLst/>
          </a:prstGeom>
          <a:solidFill>
            <a:srgbClr val="D9E1F2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5603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520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the activity or pathway that creates the risk.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AT SHOPNOW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5074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MFA so weak passwords cannot lead to account takeover.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1554480"/>
            <a:ext cx="2697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3429000" y="1554480"/>
            <a:ext cx="269748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3611880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320540" y="2377440"/>
            <a:ext cx="914400" cy="914400"/>
          </a:xfrm>
          <a:prstGeom prst="ellipse">
            <a:avLst/>
          </a:prstGeom>
          <a:solidFill>
            <a:srgbClr val="D9E1F2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256032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0" y="3520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likelihood or impact through controls.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5760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AT SHOPNOW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5074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training, WAF tuning, automated patching.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309360" y="1554480"/>
            <a:ext cx="2697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7"/>
          <p:cNvSpPr/>
          <p:nvPr/>
        </p:nvSpPr>
        <p:spPr>
          <a:xfrm>
            <a:off x="6309360" y="1554480"/>
            <a:ext cx="269748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8"/>
          <p:cNvSpPr/>
          <p:nvPr/>
        </p:nvSpPr>
        <p:spPr>
          <a:xfrm>
            <a:off x="6492240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7200900" y="2377440"/>
            <a:ext cx="914400" cy="914400"/>
          </a:xfrm>
          <a:prstGeom prst="ellipse">
            <a:avLst/>
          </a:prstGeom>
          <a:solidFill>
            <a:srgbClr val="D9E1F2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2560320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37960" y="3520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financial or operational consequence to a third party.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53796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AT SHOPNOW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537960" y="5074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insurance, PCI-compliant payment gateway, CDN.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189720" y="1554480"/>
            <a:ext cx="2697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4"/>
          <p:cNvSpPr/>
          <p:nvPr/>
        </p:nvSpPr>
        <p:spPr>
          <a:xfrm>
            <a:off x="9189720" y="1554480"/>
            <a:ext cx="269748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5"/>
          <p:cNvSpPr/>
          <p:nvPr/>
        </p:nvSpPr>
        <p:spPr>
          <a:xfrm>
            <a:off x="9372600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10081260" y="2377440"/>
            <a:ext cx="914400" cy="914400"/>
          </a:xfrm>
          <a:prstGeom prst="ellipse">
            <a:avLst/>
          </a:prstGeom>
          <a:solidFill>
            <a:srgbClr val="D9E1F2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4140" y="2560320"/>
            <a:ext cx="548640" cy="5486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418320" y="3520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the risk and monitor without further action.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9418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AT SHOPNOW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9418320" y="5074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low-impact risks within appetite. None at ShopNow today.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plan by risk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45643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emails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DMARC/SPF/DKIM, training, simulated phishing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 WAF, parameterised queries, pen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passwords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policy, MFA, password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EDR, segmentation, tested offline backups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data breach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gateway, cyber insurance, breach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 downtime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CDN with DDoS protection, rate limiting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Unpatched software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patching, asset inventory, 14-day SLA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gaps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3-2-1 strategy, monthly restore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37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= inherent risk before treatment.  Residual = expected rating after planned controls are in place.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SIX MONTHS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DAYS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the bleeding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60904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on all admin and email accounts (R-003)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29584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474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password policy + roll out password manager (R-003)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9826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4343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phishing awareness session to all staff (R-001)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66944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5212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automated patching on all workstations (R-007)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389120" y="155448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1"/>
          <p:cNvSpPr/>
          <p:nvPr/>
        </p:nvSpPr>
        <p:spPr>
          <a:xfrm>
            <a:off x="4389120" y="1554480"/>
            <a:ext cx="356616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2"/>
          <p:cNvSpPr/>
          <p:nvPr/>
        </p:nvSpPr>
        <p:spPr>
          <a:xfrm>
            <a:off x="461772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 TO 90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6177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Strengthen the perimeter</a:t>
            </a:r>
            <a:endParaRPr lang="en-US" sz="1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660904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3776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site behind CDN with DDoS protection (R-006)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529584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937760" y="3474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WAF with OWASP Core Rule Set (R-002)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398264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937760" y="4343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3-2-1 backup strategy and first restore test (R-008)</a:t>
            </a:r>
            <a:endParaRPr lang="en-US" sz="12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5266944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937760" y="5212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first simulated phishing campaign (R-001)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8229600" y="155448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19"/>
          <p:cNvSpPr/>
          <p:nvPr/>
        </p:nvSpPr>
        <p:spPr>
          <a:xfrm>
            <a:off x="8229600" y="1554480"/>
            <a:ext cx="356616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0"/>
          <p:cNvSpPr/>
          <p:nvPr/>
        </p:nvSpPr>
        <p:spPr>
          <a:xfrm>
            <a:off x="845820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91 TO 180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84582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resilience</a:t>
            </a:r>
            <a:endParaRPr lang="en-US" sz="17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660904"/>
            <a:ext cx="228600" cy="2286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77824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endpoint detection and response (R-004)</a:t>
            </a:r>
            <a:endParaRPr lang="en-US" sz="12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529584"/>
            <a:ext cx="228600" cy="2286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8778240" y="3474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external penetration test (R-002)</a:t>
            </a:r>
            <a:endParaRPr lang="en-US" sz="12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398264"/>
            <a:ext cx="228600" cy="2286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8778240" y="4343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cyber liability insurance (R-005)</a:t>
            </a:r>
            <a:endParaRPr lang="en-US" sz="120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5266944"/>
            <a:ext cx="228600" cy="22860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8778240" y="5212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rehearse incident response runbook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91440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risk register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2860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that the eight identified risks reflect ShopNow's exposure today and become the basis for quarterly review.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50876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8"/>
          <p:cNvSpPr/>
          <p:nvPr/>
        </p:nvSpPr>
        <p:spPr>
          <a:xfrm>
            <a:off x="6217920" y="1508760"/>
            <a:ext cx="91440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9"/>
          <p:cNvSpPr/>
          <p:nvPr/>
        </p:nvSpPr>
        <p:spPr>
          <a:xfrm>
            <a:off x="6537960" y="1828800"/>
            <a:ext cx="640080" cy="6400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9659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indicative budget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360920" y="22860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password manager licences, advanced email filtering, CDN/WAF subscription, EDR licences, and cyber liability insurance. Most items are recurring monthly costs in the low-hundreds range.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3"/>
          <p:cNvSpPr/>
          <p:nvPr/>
        </p:nvSpPr>
        <p:spPr>
          <a:xfrm>
            <a:off x="548640" y="3886200"/>
            <a:ext cx="91440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4"/>
          <p:cNvSpPr/>
          <p:nvPr/>
        </p:nvSpPr>
        <p:spPr>
          <a:xfrm>
            <a:off x="868680" y="4206240"/>
            <a:ext cx="640080" cy="6400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434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risk owners and timelines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691640" y="46634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 the web developer, and the Owner are named on each risk. Each needs the authority and the time to deliver against the targets.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17920" y="388620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18"/>
          <p:cNvSpPr/>
          <p:nvPr/>
        </p:nvSpPr>
        <p:spPr>
          <a:xfrm>
            <a:off x="6217920" y="3886200"/>
            <a:ext cx="91440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19"/>
          <p:cNvSpPr/>
          <p:nvPr/>
        </p:nvSpPr>
        <p:spPr>
          <a:xfrm>
            <a:off x="6537960" y="4206240"/>
            <a:ext cx="640080" cy="6400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3434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6092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quarterly reviews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360920" y="46634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recurring 90-day review to reassess scoring, close completed actions, and add new risks as the business grows.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108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E1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discussion, decisions.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and detailed treatment plans are available in the accompanying workbook.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6035040"/>
            <a:ext cx="1216152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4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Cybersecurity Risk Assessment  |  ISO/IEC 27001:2022 aligned  |  19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956</Words>
  <Application>Microsoft Office PowerPoint</Application>
  <PresentationFormat>Widescreen</PresentationFormat>
  <Paragraphs>239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ShopNow Cybersecurity Risk Assessment</dc:title>
  <dc:subject>PptxGenJS Presentation</dc:subject>
  <dc:creator>Information Security</dc:creator>
  <cp:lastModifiedBy>Julian - UTSG Dulu</cp:lastModifiedBy>
  <cp:revision>4</cp:revision>
  <dcterms:created xsi:type="dcterms:W3CDTF">2026-05-19T18:27:00Z</dcterms:created>
  <dcterms:modified xsi:type="dcterms:W3CDTF">2026-05-23T00:25:45Z</dcterms:modified>
</cp:coreProperties>
</file>